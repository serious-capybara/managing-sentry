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Raleway"/>
      <p:regular r:id="rId21"/>
      <p:bold r:id="rId22"/>
      <p:italic r:id="rId23"/>
      <p:boldItalic r:id="rId24"/>
    </p:embeddedFont>
    <p:embeddedFont>
      <p:font typeface="Lato"/>
      <p:regular r:id="rId25"/>
      <p:bold r:id="rId26"/>
      <p:italic r:id="rId27"/>
      <p:boldItalic r:id="rId28"/>
    </p:embeddedFont>
    <p:embeddedFont>
      <p:font typeface="Arial Narrow"/>
      <p:regular r:id="rId29"/>
      <p:bold r:id="rId30"/>
      <p:italic r:id="rId31"/>
      <p:boldItalic r:id="rId32"/>
    </p:embeddedFont>
    <p:embeddedFont>
      <p:font typeface="Open Sans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4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47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aleway-bold.fntdata"/><Relationship Id="rId21" Type="http://schemas.openxmlformats.org/officeDocument/2006/relationships/font" Target="fonts/Raleway-regular.fntdata"/><Relationship Id="rId24" Type="http://schemas.openxmlformats.org/officeDocument/2006/relationships/font" Target="fonts/Raleway-boldItalic.fntdata"/><Relationship Id="rId23" Type="http://schemas.openxmlformats.org/officeDocument/2006/relationships/font" Target="fonts/Raleway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.fntdata"/><Relationship Id="rId25" Type="http://schemas.openxmlformats.org/officeDocument/2006/relationships/font" Target="fonts/Lato-regular.fntdata"/><Relationship Id="rId28" Type="http://schemas.openxmlformats.org/officeDocument/2006/relationships/font" Target="fonts/Lato-boldItalic.fntdata"/><Relationship Id="rId27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ArialNarrow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ArialNarrow-italic.fntdata"/><Relationship Id="rId30" Type="http://schemas.openxmlformats.org/officeDocument/2006/relationships/font" Target="fonts/ArialNarrow-bold.fntdata"/><Relationship Id="rId11" Type="http://schemas.openxmlformats.org/officeDocument/2006/relationships/slide" Target="slides/slide6.xml"/><Relationship Id="rId33" Type="http://schemas.openxmlformats.org/officeDocument/2006/relationships/font" Target="fonts/OpenSans-regular.fntdata"/><Relationship Id="rId10" Type="http://schemas.openxmlformats.org/officeDocument/2006/relationships/slide" Target="slides/slide5.xml"/><Relationship Id="rId32" Type="http://schemas.openxmlformats.org/officeDocument/2006/relationships/font" Target="fonts/ArialNarrow-boldItalic.fntdata"/><Relationship Id="rId13" Type="http://schemas.openxmlformats.org/officeDocument/2006/relationships/slide" Target="slides/slide8.xml"/><Relationship Id="rId35" Type="http://schemas.openxmlformats.org/officeDocument/2006/relationships/font" Target="fonts/OpenSans-italic.fntdata"/><Relationship Id="rId12" Type="http://schemas.openxmlformats.org/officeDocument/2006/relationships/slide" Target="slides/slide7.xml"/><Relationship Id="rId34" Type="http://schemas.openxmlformats.org/officeDocument/2006/relationships/font" Target="fonts/OpenSans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OpenSans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h698605be6b1f8c78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h698605be6b1f8c78_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type="ctrTitle"/>
          </p:nvPr>
        </p:nvSpPr>
        <p:spPr>
          <a:xfrm>
            <a:off x="727950" y="1739400"/>
            <a:ext cx="47862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Open Sans"/>
              <a:buNone/>
              <a:defRPr sz="4200"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727951" y="3512900"/>
            <a:ext cx="47862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Open Sans"/>
              <a:buNone/>
              <a:defRPr sz="1600"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WU - Title and body">
  <p:cSld name="TITLE_AND_BODY_1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 txBox="1"/>
          <p:nvPr>
            <p:ph type="title"/>
          </p:nvPr>
        </p:nvSpPr>
        <p:spPr>
          <a:xfrm>
            <a:off x="536600" y="382925"/>
            <a:ext cx="5564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800"/>
              <a:buFont typeface="Open Sans"/>
              <a:buNone/>
              <a:defRPr>
                <a:solidFill>
                  <a:srgbClr val="202C6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675550" y="12747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Open Sans"/>
              <a:buChar char="●"/>
              <a:defRPr sz="2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○"/>
              <a:defRPr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■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●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○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■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●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○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■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Slide">
  <p:cSld name="Closing Slid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:\FileHistory\user\WCESTERO\Data\C\Users\user\Documents\ALL FILES\PHINMA Ed\Events &amp; Special Projects\Presentation Template\4x3\End Slide (SWU).png" id="21" name="Google Shape;21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C - Title and body">
  <p:cSld name="TITLE_AND_BODY_1_2_2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 txBox="1"/>
          <p:nvPr>
            <p:ph type="title"/>
          </p:nvPr>
        </p:nvSpPr>
        <p:spPr>
          <a:xfrm>
            <a:off x="536600" y="382925"/>
            <a:ext cx="54516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800"/>
              <a:buFont typeface="Open Sans"/>
              <a:buNone/>
              <a:defRPr>
                <a:solidFill>
                  <a:srgbClr val="202C6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675550" y="12747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Open Sans"/>
              <a:buChar char="●"/>
              <a:defRPr sz="2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○"/>
              <a:defRPr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■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●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○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■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●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○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■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I - Title and body">
  <p:cSld name="TITLE_AND_BODY_1_2_1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6"/>
          <p:cNvSpPr txBox="1"/>
          <p:nvPr>
            <p:ph type="title"/>
          </p:nvPr>
        </p:nvSpPr>
        <p:spPr>
          <a:xfrm>
            <a:off x="536600" y="382925"/>
            <a:ext cx="59208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800"/>
              <a:buFont typeface="Open Sans"/>
              <a:buNone/>
              <a:defRPr>
                <a:solidFill>
                  <a:srgbClr val="202C6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" type="body"/>
          </p:nvPr>
        </p:nvSpPr>
        <p:spPr>
          <a:xfrm>
            <a:off x="675550" y="12747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Open Sans"/>
              <a:buChar char="●"/>
              <a:defRPr sz="2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○"/>
              <a:defRPr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■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●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○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■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●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○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■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JC - Title and body">
  <p:cSld name="TITLE_AND_BODY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7"/>
          <p:cNvSpPr txBox="1"/>
          <p:nvPr>
            <p:ph type="title"/>
          </p:nvPr>
        </p:nvSpPr>
        <p:spPr>
          <a:xfrm>
            <a:off x="536600" y="382925"/>
            <a:ext cx="5564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800"/>
              <a:buFont typeface="Open Sans"/>
              <a:buNone/>
              <a:defRPr>
                <a:solidFill>
                  <a:srgbClr val="202C6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675550" y="12747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Open Sans"/>
              <a:buChar char="●"/>
              <a:defRPr sz="2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○"/>
              <a:defRPr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■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●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○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■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●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○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■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C - Title and body">
  <p:cSld name="TITLE_AND_BODY_1_1_1_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8"/>
          <p:cNvSpPr txBox="1"/>
          <p:nvPr>
            <p:ph type="title"/>
          </p:nvPr>
        </p:nvSpPr>
        <p:spPr>
          <a:xfrm>
            <a:off x="536600" y="382925"/>
            <a:ext cx="5564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800"/>
              <a:buFont typeface="Open Sans"/>
              <a:buNone/>
              <a:defRPr>
                <a:solidFill>
                  <a:srgbClr val="202C6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675550" y="12747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Open Sans"/>
              <a:buChar char="●"/>
              <a:defRPr sz="2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○"/>
              <a:defRPr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■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●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○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■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●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○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■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CL - Title and body">
  <p:cSld name="TITLE_AND_BODY_1_1_1_1_1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9"/>
          <p:cNvSpPr txBox="1"/>
          <p:nvPr>
            <p:ph type="title"/>
          </p:nvPr>
        </p:nvSpPr>
        <p:spPr>
          <a:xfrm>
            <a:off x="536600" y="382925"/>
            <a:ext cx="5564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800"/>
              <a:buFont typeface="Open Sans"/>
              <a:buNone/>
              <a:defRPr>
                <a:solidFill>
                  <a:srgbClr val="202C6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body"/>
          </p:nvPr>
        </p:nvSpPr>
        <p:spPr>
          <a:xfrm>
            <a:off x="675550" y="12747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Open Sans"/>
              <a:buChar char="●"/>
              <a:defRPr sz="2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○"/>
              <a:defRPr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■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●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○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■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●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○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■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CL - Title and body">
  <p:cSld name="TITLE_AND_BODY_1_1_1_1_1_1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0"/>
          <p:cNvSpPr txBox="1"/>
          <p:nvPr>
            <p:ph type="title"/>
          </p:nvPr>
        </p:nvSpPr>
        <p:spPr>
          <a:xfrm>
            <a:off x="536600" y="382925"/>
            <a:ext cx="5564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800"/>
              <a:buFont typeface="Open Sans"/>
              <a:buNone/>
              <a:defRPr>
                <a:solidFill>
                  <a:srgbClr val="202C6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9pPr>
          </a:lstStyle>
          <a:p/>
        </p:txBody>
      </p:sp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675550" y="12747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Open Sans"/>
              <a:buChar char="●"/>
              <a:defRPr sz="2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○"/>
              <a:defRPr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■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●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○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■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●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○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■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PM Indonesia - Title and body">
  <p:cSld name="TITLE_AND_BODY_1_1_1_1_1_1_1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1"/>
          <p:cNvSpPr txBox="1"/>
          <p:nvPr>
            <p:ph type="title"/>
          </p:nvPr>
        </p:nvSpPr>
        <p:spPr>
          <a:xfrm>
            <a:off x="536600" y="382925"/>
            <a:ext cx="5564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800"/>
              <a:buFont typeface="Open Sans"/>
              <a:buNone/>
              <a:defRPr>
                <a:solidFill>
                  <a:srgbClr val="202C6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9pPr>
          </a:lstStyle>
          <a:p/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675550" y="12747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Open Sans"/>
              <a:buChar char="●"/>
              <a:defRPr sz="2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○"/>
              <a:defRPr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■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●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○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■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●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○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■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CR - Title and body">
  <p:cSld name="TITLE_AND_BODY_1_1_1_1_1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2"/>
          <p:cNvSpPr txBox="1"/>
          <p:nvPr>
            <p:ph type="title"/>
          </p:nvPr>
        </p:nvSpPr>
        <p:spPr>
          <a:xfrm>
            <a:off x="517825" y="1171325"/>
            <a:ext cx="5564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800"/>
              <a:buFont typeface="Open Sans"/>
              <a:buNone/>
              <a:defRPr>
                <a:solidFill>
                  <a:srgbClr val="202C6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9pPr>
          </a:lstStyle>
          <a:p/>
        </p:txBody>
      </p:sp>
      <p:sp>
        <p:nvSpPr>
          <p:cNvPr id="60" name="Google Shape;60;p12"/>
          <p:cNvSpPr txBox="1"/>
          <p:nvPr>
            <p:ph idx="1" type="body"/>
          </p:nvPr>
        </p:nvSpPr>
        <p:spPr>
          <a:xfrm>
            <a:off x="656775" y="20631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Open Sans"/>
              <a:buChar char="●"/>
              <a:defRPr sz="2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○"/>
              <a:defRPr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■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●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○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■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●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○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■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ADLearning - Title and body">
  <p:cSld name="TITLE_AND_BODY_1_1_1_1_1_1_1_1_1_1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3"/>
          <p:cNvSpPr txBox="1"/>
          <p:nvPr>
            <p:ph type="title"/>
          </p:nvPr>
        </p:nvSpPr>
        <p:spPr>
          <a:xfrm>
            <a:off x="517825" y="1227625"/>
            <a:ext cx="5564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800"/>
              <a:buFont typeface="Open Sans"/>
              <a:buNone/>
              <a:defRPr>
                <a:solidFill>
                  <a:srgbClr val="202C6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9pPr>
          </a:lstStyle>
          <a:p/>
        </p:txBody>
      </p:sp>
      <p:sp>
        <p:nvSpPr>
          <p:cNvPr id="65" name="Google Shape;65;p13"/>
          <p:cNvSpPr txBox="1"/>
          <p:nvPr>
            <p:ph idx="1" type="body"/>
          </p:nvPr>
        </p:nvSpPr>
        <p:spPr>
          <a:xfrm>
            <a:off x="656775" y="21194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Open Sans"/>
              <a:buChar char="●"/>
              <a:defRPr sz="2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○"/>
              <a:defRPr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■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●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○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■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●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○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■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66" name="Google Shape;66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" name="Google Shape;69;p14"/>
          <p:cNvSpPr/>
          <p:nvPr/>
        </p:nvSpPr>
        <p:spPr>
          <a:xfrm>
            <a:off x="78150" y="95525"/>
            <a:ext cx="8961600" cy="492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22.png"/><Relationship Id="rId5" Type="http://schemas.openxmlformats.org/officeDocument/2006/relationships/image" Target="../media/image19.png"/><Relationship Id="rId6" Type="http://schemas.openxmlformats.org/officeDocument/2006/relationships/image" Target="../media/image18.png"/><Relationship Id="rId7" Type="http://schemas.openxmlformats.org/officeDocument/2006/relationships/image" Target="../media/image25.png"/><Relationship Id="rId8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hyperlink" Target="https://dschool.stanford.edu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23.png"/><Relationship Id="rId5" Type="http://schemas.openxmlformats.org/officeDocument/2006/relationships/image" Target="../media/image29.png"/><Relationship Id="rId6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7.gif"/><Relationship Id="rId4" Type="http://schemas.openxmlformats.org/officeDocument/2006/relationships/image" Target="../media/image24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8.png"/><Relationship Id="rId4" Type="http://schemas.openxmlformats.org/officeDocument/2006/relationships/image" Target="../media/image33.png"/><Relationship Id="rId5" Type="http://schemas.openxmlformats.org/officeDocument/2006/relationships/image" Target="../media/image32.png"/><Relationship Id="rId6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1.png"/><Relationship Id="rId4" Type="http://schemas.openxmlformats.org/officeDocument/2006/relationships/image" Target="../media/image36.png"/><Relationship Id="rId5" Type="http://schemas.openxmlformats.org/officeDocument/2006/relationships/image" Target="../media/image30.png"/><Relationship Id="rId6" Type="http://schemas.openxmlformats.org/officeDocument/2006/relationships/image" Target="../media/image35.png"/><Relationship Id="rId7" Type="http://schemas.openxmlformats.org/officeDocument/2006/relationships/image" Target="../media/image3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1.png"/><Relationship Id="rId4" Type="http://schemas.openxmlformats.org/officeDocument/2006/relationships/image" Target="../media/image51.png"/><Relationship Id="rId9" Type="http://schemas.openxmlformats.org/officeDocument/2006/relationships/image" Target="../media/image48.png"/><Relationship Id="rId5" Type="http://schemas.openxmlformats.org/officeDocument/2006/relationships/image" Target="../media/image39.png"/><Relationship Id="rId6" Type="http://schemas.openxmlformats.org/officeDocument/2006/relationships/image" Target="../media/image53.png"/><Relationship Id="rId7" Type="http://schemas.openxmlformats.org/officeDocument/2006/relationships/image" Target="../media/image40.png"/><Relationship Id="rId8" Type="http://schemas.openxmlformats.org/officeDocument/2006/relationships/image" Target="../media/image4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5.png"/><Relationship Id="rId4" Type="http://schemas.openxmlformats.org/officeDocument/2006/relationships/image" Target="../media/image45.png"/><Relationship Id="rId5" Type="http://schemas.openxmlformats.org/officeDocument/2006/relationships/image" Target="../media/image37.png"/><Relationship Id="rId6" Type="http://schemas.openxmlformats.org/officeDocument/2006/relationships/image" Target="../media/image47.png"/><Relationship Id="rId7" Type="http://schemas.openxmlformats.org/officeDocument/2006/relationships/image" Target="../media/image52.png"/><Relationship Id="rId8" Type="http://schemas.openxmlformats.org/officeDocument/2006/relationships/image" Target="../media/image4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2.png"/><Relationship Id="rId4" Type="http://schemas.openxmlformats.org/officeDocument/2006/relationships/image" Target="../media/image49.png"/><Relationship Id="rId5" Type="http://schemas.openxmlformats.org/officeDocument/2006/relationships/image" Target="../media/image44.png"/><Relationship Id="rId6" Type="http://schemas.openxmlformats.org/officeDocument/2006/relationships/image" Target="../media/image54.png"/><Relationship Id="rId7" Type="http://schemas.openxmlformats.org/officeDocument/2006/relationships/image" Target="../media/image50.png"/><Relationship Id="rId8" Type="http://schemas.openxmlformats.org/officeDocument/2006/relationships/image" Target="../media/image5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536600" y="382925"/>
            <a:ext cx="61650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ct val="111111"/>
              <a:buFont typeface="Open Sans"/>
              <a:buNone/>
            </a:pPr>
            <a:r>
              <a:rPr lang="en-US"/>
              <a:t>Case-based Scenario</a:t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711976" y="918125"/>
            <a:ext cx="78783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-18542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 sz="3600"/>
          </a:p>
          <a:p>
            <a:pPr indent="-22098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 sz="2900"/>
          </a:p>
          <a:p>
            <a:pPr indent="-22098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 sz="2900"/>
          </a:p>
          <a:p>
            <a:pPr indent="-22098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 sz="2900"/>
          </a:p>
          <a:p>
            <a:pPr indent="0" lvl="1" marL="571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1" marL="571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1" marL="571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-228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1" marL="571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None/>
            </a:pPr>
            <a:r>
              <a:t/>
            </a:r>
            <a:endParaRPr/>
          </a:p>
        </p:txBody>
      </p:sp>
      <p:pic>
        <p:nvPicPr>
          <p:cNvPr id="76" name="Google Shape;7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3900" y="1894125"/>
            <a:ext cx="1355250" cy="135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2987" y="1855113"/>
            <a:ext cx="1433275" cy="143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78275" y="1215750"/>
            <a:ext cx="2712000" cy="271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22375" y="947050"/>
            <a:ext cx="3899251" cy="3249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45350" y="1467662"/>
            <a:ext cx="2208175" cy="220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017175" y="1467650"/>
            <a:ext cx="2208175" cy="220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ctrTitle"/>
          </p:nvPr>
        </p:nvSpPr>
        <p:spPr>
          <a:xfrm>
            <a:off x="532375" y="1366825"/>
            <a:ext cx="52158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Open Sans"/>
              <a:buNone/>
            </a:pPr>
            <a:r>
              <a:rPr lang="en-US" sz="4800"/>
              <a:t>Managing Sentry</a:t>
            </a:r>
            <a:endParaRPr sz="4800"/>
          </a:p>
        </p:txBody>
      </p:sp>
      <p:sp>
        <p:nvSpPr>
          <p:cNvPr id="87" name="Google Shape;87;p16"/>
          <p:cNvSpPr txBox="1"/>
          <p:nvPr>
            <p:ph idx="1" type="subTitle"/>
          </p:nvPr>
        </p:nvSpPr>
        <p:spPr>
          <a:xfrm>
            <a:off x="532375" y="3227075"/>
            <a:ext cx="52158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60000"/>
              <a:buFont typeface="Open Sans"/>
              <a:buNone/>
            </a:pPr>
            <a:r>
              <a:rPr b="1" lang="en-US" sz="1000"/>
              <a:t>D</a:t>
            </a:r>
            <a:r>
              <a:rPr b="1" lang="en-US" sz="1000"/>
              <a:t>evelopers: </a:t>
            </a:r>
            <a:endParaRPr b="1" sz="1000"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Open Sans"/>
              <a:buNone/>
            </a:pPr>
            <a:r>
              <a:rPr lang="en-US"/>
              <a:t>Resty S. Aldave</a:t>
            </a:r>
            <a:endParaRPr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Open Sans"/>
              <a:buNone/>
            </a:pPr>
            <a:r>
              <a:rPr lang="en-US"/>
              <a:t>John Wilfred Y.</a:t>
            </a:r>
            <a:r>
              <a:rPr lang="en-US"/>
              <a:t>Rama</a:t>
            </a:r>
            <a:endParaRPr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Open Sans"/>
              <a:buNone/>
            </a:pPr>
            <a:r>
              <a:rPr lang="en-US"/>
              <a:t>Clary F. Llagu</a:t>
            </a:r>
            <a:r>
              <a:rPr lang="en-US"/>
              <a:t>no</a:t>
            </a:r>
            <a:endParaRPr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Open Sans"/>
              <a:buNone/>
            </a:pPr>
            <a:r>
              <a:rPr lang="en-US"/>
              <a:t>Shan Bagahansol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536600" y="382925"/>
            <a:ext cx="61650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ct val="111111"/>
              <a:buFont typeface="Open Sans"/>
              <a:buNone/>
            </a:pPr>
            <a:r>
              <a:rPr lang="en-US">
                <a:solidFill>
                  <a:srgbClr val="002060"/>
                </a:solidFill>
              </a:rPr>
              <a:t>Modes in Design Thinking </a:t>
            </a:r>
            <a:endParaRPr>
              <a:solidFill>
                <a:srgbClr val="002060"/>
              </a:solidFill>
            </a:endParaRPr>
          </a:p>
        </p:txBody>
      </p:sp>
      <p:sp>
        <p:nvSpPr>
          <p:cNvPr id="93" name="Google Shape;93;p17"/>
          <p:cNvSpPr txBox="1"/>
          <p:nvPr>
            <p:ph idx="1" type="body"/>
          </p:nvPr>
        </p:nvSpPr>
        <p:spPr>
          <a:xfrm>
            <a:off x="711976" y="918125"/>
            <a:ext cx="7878270" cy="376555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8542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80"/>
              <a:buNone/>
            </a:pPr>
            <a:r>
              <a:t/>
            </a:r>
            <a:endParaRPr sz="3600"/>
          </a:p>
          <a:p>
            <a:pPr indent="-22098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20"/>
              <a:buNone/>
            </a:pPr>
            <a:r>
              <a:t/>
            </a:r>
            <a:endParaRPr sz="2900"/>
          </a:p>
          <a:p>
            <a:pPr indent="-22098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20"/>
              <a:buNone/>
            </a:pPr>
            <a:r>
              <a:t/>
            </a:r>
            <a:endParaRPr sz="2900"/>
          </a:p>
          <a:p>
            <a:pPr indent="-22098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20"/>
              <a:buNone/>
            </a:pPr>
            <a:r>
              <a:t/>
            </a:r>
            <a:endParaRPr sz="2900"/>
          </a:p>
          <a:p>
            <a:pPr indent="0" lvl="1" marL="571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1" marL="571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1" marL="571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1" marL="571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Open Sans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Open Sans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Open Sans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Open Sans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Open Sans"/>
              <a:buNone/>
            </a:pPr>
            <a:r>
              <a:t/>
            </a:r>
            <a:endParaRPr/>
          </a:p>
        </p:txBody>
      </p:sp>
      <p:pic>
        <p:nvPicPr>
          <p:cNvPr id="94" name="Google Shape;9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325" y="1314263"/>
            <a:ext cx="6534149" cy="279907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7"/>
          <p:cNvSpPr txBox="1"/>
          <p:nvPr/>
        </p:nvSpPr>
        <p:spPr>
          <a:xfrm>
            <a:off x="5554975" y="4754900"/>
            <a:ext cx="34863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434343"/>
                </a:solidFill>
                <a:latin typeface="Arial Narrow"/>
                <a:ea typeface="Arial Narrow"/>
                <a:cs typeface="Arial Narrow"/>
                <a:sym typeface="Arial Narrow"/>
              </a:rPr>
              <a:t>Taken from: </a:t>
            </a:r>
            <a:r>
              <a:rPr b="0" i="1" lang="en-US" sz="1200" u="sng" cap="none" strike="noStrike">
                <a:solidFill>
                  <a:schemeClr val="hlink"/>
                </a:solidFill>
                <a:latin typeface="Arial Narrow"/>
                <a:ea typeface="Arial Narrow"/>
                <a:cs typeface="Arial Narrow"/>
                <a:sym typeface="Arial Narrow"/>
                <a:hlinkClick r:id="rId4"/>
              </a:rPr>
              <a:t>https://dschool.stanford.edu/</a:t>
            </a:r>
            <a:endParaRPr b="0" i="1" sz="1200" u="none" cap="none" strike="noStrike">
              <a:solidFill>
                <a:srgbClr val="434343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536600" y="382925"/>
            <a:ext cx="5564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ct val="111111"/>
              <a:buFont typeface="Open Sans"/>
              <a:buNone/>
            </a:pPr>
            <a:r>
              <a:rPr lang="en-US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EMPATHIZE</a:t>
            </a:r>
            <a:endParaRPr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5412" y="1221662"/>
            <a:ext cx="3600225" cy="270017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8"/>
          <p:cNvSpPr txBox="1"/>
          <p:nvPr/>
        </p:nvSpPr>
        <p:spPr>
          <a:xfrm>
            <a:off x="4939725" y="1221650"/>
            <a:ext cx="3527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Understanding the client's daily operational challenges through direct interaction.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536600" y="382925"/>
            <a:ext cx="5564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ct val="111111"/>
              <a:buFont typeface="Open Sans"/>
              <a:buNone/>
            </a:pPr>
            <a:r>
              <a:rPr lang="en-US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DEFINE</a:t>
            </a:r>
            <a:endParaRPr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6600" y="1894112"/>
            <a:ext cx="1355250" cy="135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53525" y="1779162"/>
            <a:ext cx="1585175" cy="158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80275" y="1672488"/>
            <a:ext cx="1798526" cy="1798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82225" y="1779162"/>
            <a:ext cx="1585176" cy="1585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/>
          <p:nvPr>
            <p:ph type="title"/>
          </p:nvPr>
        </p:nvSpPr>
        <p:spPr>
          <a:xfrm>
            <a:off x="536600" y="382925"/>
            <a:ext cx="5564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ct val="111111"/>
              <a:buFont typeface="Open Sans"/>
              <a:buNone/>
            </a:pPr>
            <a:r>
              <a:rPr lang="en-US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IDEATE </a:t>
            </a:r>
            <a:endParaRPr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" name="Google Shape;11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2675" y="1362075"/>
            <a:ext cx="2419349" cy="241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65525" y="1558075"/>
            <a:ext cx="2027350" cy="202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/>
          <p:nvPr>
            <p:ph type="title"/>
          </p:nvPr>
        </p:nvSpPr>
        <p:spPr>
          <a:xfrm>
            <a:off x="536600" y="382925"/>
            <a:ext cx="5564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ct val="111111"/>
              <a:buFont typeface="Open Sans"/>
              <a:buNone/>
            </a:pPr>
            <a:r>
              <a:rPr lang="en-US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PROTOTYPE/WIREFRAME </a:t>
            </a:r>
            <a:endParaRPr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4" name="Google Shape;124;p21"/>
          <p:cNvGrpSpPr/>
          <p:nvPr/>
        </p:nvGrpSpPr>
        <p:grpSpPr>
          <a:xfrm>
            <a:off x="2121658" y="1076924"/>
            <a:ext cx="4900679" cy="3856234"/>
            <a:chOff x="878400" y="1650675"/>
            <a:chExt cx="3566724" cy="2806575"/>
          </a:xfrm>
        </p:grpSpPr>
        <p:pic>
          <p:nvPicPr>
            <p:cNvPr id="125" name="Google Shape;125;p21" title="ezgif-5c00efc57eebc1fc.gif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78400" y="1650675"/>
              <a:ext cx="3566724" cy="2229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" name="Google Shape;126;p21"/>
            <p:cNvSpPr txBox="1"/>
            <p:nvPr/>
          </p:nvSpPr>
          <p:spPr>
            <a:xfrm>
              <a:off x="2131213" y="4072350"/>
              <a:ext cx="10611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5625" lIns="125625" spcFirstLastPara="1" rIns="125625" wrap="square" tIns="1256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86">
                  <a:solidFill>
                    <a:schemeClr val="accent1"/>
                  </a:solidFill>
                  <a:latin typeface="Lato"/>
                  <a:ea typeface="Lato"/>
                  <a:cs typeface="Lato"/>
                  <a:sym typeface="Lato"/>
                </a:rPr>
                <a:t>App Design</a:t>
              </a:r>
              <a:endParaRPr sz="1786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27" name="Google Shape;127;p21"/>
          <p:cNvGrpSpPr/>
          <p:nvPr/>
        </p:nvGrpSpPr>
        <p:grpSpPr>
          <a:xfrm>
            <a:off x="2121501" y="1076884"/>
            <a:ext cx="4900563" cy="3856277"/>
            <a:chOff x="4563075" y="1575475"/>
            <a:chExt cx="3404824" cy="2679273"/>
          </a:xfrm>
        </p:grpSpPr>
        <p:pic>
          <p:nvPicPr>
            <p:cNvPr id="128" name="Google Shape;128;p21" title="ezgif-5957367f127b6b7b.gif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563075" y="1575475"/>
              <a:ext cx="3404824" cy="2196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" name="Google Shape;129;p21"/>
            <p:cNvSpPr txBox="1"/>
            <p:nvPr/>
          </p:nvSpPr>
          <p:spPr>
            <a:xfrm>
              <a:off x="5794050" y="3920248"/>
              <a:ext cx="1061100" cy="33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1600" lIns="131600" spcFirstLastPara="1" rIns="131600" wrap="square" tIns="1316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accent1"/>
                  </a:solidFill>
                  <a:latin typeface="Lato"/>
                  <a:ea typeface="Lato"/>
                  <a:cs typeface="Lato"/>
                  <a:sym typeface="Lato"/>
                </a:rPr>
                <a:t>Web</a:t>
              </a:r>
              <a:r>
                <a:rPr lang="en-US">
                  <a:solidFill>
                    <a:schemeClr val="accent1"/>
                  </a:solidFill>
                  <a:latin typeface="Lato"/>
                  <a:ea typeface="Lato"/>
                  <a:cs typeface="Lato"/>
                  <a:sym typeface="Lato"/>
                </a:rPr>
                <a:t> Design</a:t>
              </a:r>
              <a:endParaRPr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/>
          <p:nvPr>
            <p:ph type="title"/>
          </p:nvPr>
        </p:nvSpPr>
        <p:spPr>
          <a:xfrm>
            <a:off x="536600" y="382925"/>
            <a:ext cx="5564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ct val="111111"/>
              <a:buFont typeface="Open Sans"/>
              <a:buNone/>
            </a:pPr>
            <a:r>
              <a:rPr lang="en-US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TEST</a:t>
            </a:r>
            <a:endParaRPr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5" name="Google Shape;13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7550" y="1833079"/>
            <a:ext cx="1509201" cy="1509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07907" y="1985551"/>
            <a:ext cx="1432966" cy="1432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93684" y="1830250"/>
            <a:ext cx="1743566" cy="1743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94822" y="1433196"/>
            <a:ext cx="776925" cy="77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36297" y="1669146"/>
            <a:ext cx="776925" cy="77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536600" y="382925"/>
            <a:ext cx="61650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ct val="111111"/>
              <a:buFont typeface="Open Sans"/>
              <a:buNone/>
            </a:pPr>
            <a:r>
              <a:rPr lang="en-US"/>
              <a:t>Proposed System and project features(with mockups) “ANDROID”</a:t>
            </a:r>
            <a:endParaRPr/>
          </a:p>
        </p:txBody>
      </p:sp>
      <p:pic>
        <p:nvPicPr>
          <p:cNvPr id="145" name="Google Shape;145;p23" title="dashboar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3180" y="1310142"/>
            <a:ext cx="1641264" cy="3374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3" title="dashboard_logi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56655" y="1308867"/>
            <a:ext cx="1650250" cy="3374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3" title="historie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58405" y="1276517"/>
            <a:ext cx="1703775" cy="3405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3" title="login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6783" y="1308877"/>
            <a:ext cx="1628999" cy="3310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3" title="products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39230" y="1277517"/>
            <a:ext cx="1703775" cy="34275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/>
          <p:nvPr>
            <p:ph type="title"/>
          </p:nvPr>
        </p:nvSpPr>
        <p:spPr>
          <a:xfrm>
            <a:off x="536600" y="382925"/>
            <a:ext cx="61650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ct val="111111"/>
              <a:buFont typeface="Open Sans"/>
              <a:buNone/>
            </a:pPr>
            <a:r>
              <a:rPr lang="en-US"/>
              <a:t>Proposed System and project features(with mockups) “WEBSITE”</a:t>
            </a:r>
            <a:endParaRPr/>
          </a:p>
        </p:txBody>
      </p:sp>
      <p:pic>
        <p:nvPicPr>
          <p:cNvPr id="155" name="Google Shape;155;p24" title="logi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648" y="1767925"/>
            <a:ext cx="4243599" cy="2716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4" title="dashboar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56476" y="1716125"/>
            <a:ext cx="4243599" cy="2820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4" title="product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5850" y="1747150"/>
            <a:ext cx="4243599" cy="27786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4" title="stocks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60711" y="1734100"/>
            <a:ext cx="4256589" cy="271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4" title="price_checker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1627" y="1759947"/>
            <a:ext cx="4186107" cy="2716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4" title="histories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382708" y="1721353"/>
            <a:ext cx="4243599" cy="27579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4" title="reports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059862" y="1479613"/>
            <a:ext cx="4867876" cy="322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 txBox="1"/>
          <p:nvPr>
            <p:ph type="title"/>
          </p:nvPr>
        </p:nvSpPr>
        <p:spPr>
          <a:xfrm>
            <a:off x="536600" y="382925"/>
            <a:ext cx="61650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ct val="111111"/>
              <a:buFont typeface="Open Sans"/>
              <a:buNone/>
            </a:pPr>
            <a:r>
              <a:rPr lang="en-US"/>
              <a:t>Value proposition:</a:t>
            </a:r>
            <a:endParaRPr/>
          </a:p>
        </p:txBody>
      </p:sp>
      <p:pic>
        <p:nvPicPr>
          <p:cNvPr id="167" name="Google Shape;167;p25"/>
          <p:cNvPicPr preferRelativeResize="0"/>
          <p:nvPr/>
        </p:nvPicPr>
        <p:blipFill rotWithShape="1">
          <a:blip r:embed="rId3">
            <a:alphaModFix/>
          </a:blip>
          <a:srcRect b="16870" l="16312" r="18204" t="16557"/>
          <a:stretch/>
        </p:blipFill>
        <p:spPr>
          <a:xfrm>
            <a:off x="1046850" y="1292675"/>
            <a:ext cx="1258251" cy="127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5"/>
          <p:cNvPicPr preferRelativeResize="0"/>
          <p:nvPr/>
        </p:nvPicPr>
        <p:blipFill rotWithShape="1">
          <a:blip r:embed="rId4">
            <a:alphaModFix/>
          </a:blip>
          <a:srcRect b="25327" l="23001" r="24086" t="26531"/>
          <a:stretch/>
        </p:blipFill>
        <p:spPr>
          <a:xfrm>
            <a:off x="2883175" y="1433297"/>
            <a:ext cx="1096725" cy="99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45450" y="1065862"/>
            <a:ext cx="1732700" cy="173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94375" y="1220200"/>
            <a:ext cx="1424000" cy="14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76875" y="2946300"/>
            <a:ext cx="1469150" cy="146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391175" y="3001350"/>
            <a:ext cx="1359050" cy="135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/>
          <p:cNvSpPr txBox="1"/>
          <p:nvPr>
            <p:ph type="title"/>
          </p:nvPr>
        </p:nvSpPr>
        <p:spPr>
          <a:xfrm>
            <a:off x="536600" y="382925"/>
            <a:ext cx="61650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ct val="111111"/>
              <a:buFont typeface="Open Sans"/>
              <a:buNone/>
            </a:pPr>
            <a:r>
              <a:rPr lang="en-US"/>
              <a:t>Development platform:</a:t>
            </a:r>
            <a:endParaRPr/>
          </a:p>
        </p:txBody>
      </p:sp>
      <p:pic>
        <p:nvPicPr>
          <p:cNvPr id="178" name="Google Shape;178;p26"/>
          <p:cNvPicPr preferRelativeResize="0"/>
          <p:nvPr/>
        </p:nvPicPr>
        <p:blipFill rotWithShape="1">
          <a:blip r:embed="rId3">
            <a:alphaModFix/>
          </a:blip>
          <a:srcRect b="0" l="26874" r="29005" t="0"/>
          <a:stretch/>
        </p:blipFill>
        <p:spPr>
          <a:xfrm>
            <a:off x="1019563" y="1493307"/>
            <a:ext cx="1315375" cy="1638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61088" y="1654732"/>
            <a:ext cx="1315375" cy="131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54518" y="1766919"/>
            <a:ext cx="1091025" cy="109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86838" y="1636144"/>
            <a:ext cx="1315363" cy="135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06304" y="3439063"/>
            <a:ext cx="2231025" cy="125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6"/>
          <p:cNvPicPr preferRelativeResize="0"/>
          <p:nvPr/>
        </p:nvPicPr>
        <p:blipFill rotWithShape="1">
          <a:blip r:embed="rId8">
            <a:alphaModFix/>
          </a:blip>
          <a:srcRect b="24622" l="0" r="0" t="26631"/>
          <a:stretch/>
        </p:blipFill>
        <p:spPr>
          <a:xfrm>
            <a:off x="1721925" y="3556813"/>
            <a:ext cx="2797700" cy="101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7"/>
          <p:cNvSpPr txBox="1"/>
          <p:nvPr>
            <p:ph type="title"/>
          </p:nvPr>
        </p:nvSpPr>
        <p:spPr>
          <a:xfrm>
            <a:off x="536600" y="382925"/>
            <a:ext cx="61650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ct val="111111"/>
              <a:buFont typeface="Open Sans"/>
              <a:buNone/>
            </a:pPr>
            <a:r>
              <a:rPr lang="en-US"/>
              <a:t>Database Framework</a:t>
            </a:r>
            <a:endParaRPr/>
          </a:p>
        </p:txBody>
      </p:sp>
      <p:sp>
        <p:nvSpPr>
          <p:cNvPr id="189" name="Google Shape;189;p27"/>
          <p:cNvSpPr txBox="1"/>
          <p:nvPr/>
        </p:nvSpPr>
        <p:spPr>
          <a:xfrm>
            <a:off x="975244" y="2209800"/>
            <a:ext cx="1074420" cy="33274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0" name="Google Shape;190;p27" title="database-framewor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3537" y="1120625"/>
            <a:ext cx="7092173" cy="3580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8"/>
          <p:cNvSpPr txBox="1"/>
          <p:nvPr>
            <p:ph type="title"/>
          </p:nvPr>
        </p:nvSpPr>
        <p:spPr>
          <a:xfrm>
            <a:off x="1489489" y="2304140"/>
            <a:ext cx="61650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ct val="111111"/>
              <a:buFont typeface="Open Sans"/>
              <a:buNone/>
            </a:pPr>
            <a:r>
              <a:rPr lang="en-US"/>
              <a:t>System walkthrough</a:t>
            </a:r>
            <a:endParaRPr/>
          </a:p>
        </p:txBody>
      </p:sp>
      <p:sp>
        <p:nvSpPr>
          <p:cNvPr id="196" name="Google Shape;196;p28"/>
          <p:cNvSpPr txBox="1"/>
          <p:nvPr/>
        </p:nvSpPr>
        <p:spPr>
          <a:xfrm>
            <a:off x="975244" y="2209800"/>
            <a:ext cx="1074420" cy="33274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EHI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